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76c4e950734ff9" /><Relationship Type="http://schemas.openxmlformats.org/package/2006/relationships/metadata/core-properties" Target="/docProps/core.xml" Id="R40c59cd00c1c49f1" /><Relationship Type="http://schemas.openxmlformats.org/officeDocument/2006/relationships/extended-properties" Target="/docProps/app.xml" Id="R0fae8ad20b8c4cf7" /><Relationship Type="http://schemas.openxmlformats.org/officeDocument/2006/relationships/custom-properties" Target="/docProps/custom.xml" Id="R85600807506b45a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78e2d71b1494059"/>
    <p:sldId id="257" r:id="Rafa4961026674c69"/>
    <p:sldId id="258" r:id="R1a8e56c9e59e499a"/>
    <p:sldId id="259" r:id="R889314153fd54677"/>
    <p:sldId id="260" r:id="Rce061679d0b24f2a"/>
    <p:sldId id="261" r:id="R75e57aaec1634ca3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78e2d71b1494059" /><Relationship Type="http://schemas.openxmlformats.org/officeDocument/2006/relationships/slide" Target="/ppt/slides/slide2.xml" Id="Rafa4961026674c69" /><Relationship Type="http://schemas.openxmlformats.org/officeDocument/2006/relationships/slide" Target="/ppt/slides/slide3.xml" Id="R1a8e56c9e59e499a" /><Relationship Type="http://schemas.openxmlformats.org/officeDocument/2006/relationships/slide" Target="/ppt/slides/slide4.xml" Id="R889314153fd54677" /><Relationship Type="http://schemas.openxmlformats.org/officeDocument/2006/relationships/slide" Target="/ppt/slides/slide5.xml" Id="Rce061679d0b24f2a" /><Relationship Type="http://schemas.openxmlformats.org/officeDocument/2006/relationships/slide" Target="/ppt/slides/slide6.xml" Id="R75e57aaec163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with the core idea: global consistency should make local execution faster, not more rigid.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Use the three indicators to establish momentum. The point is not the exact number; it is the relationship between demand, onboarding speed, and reliability.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chart compares indexed qualified opportunity. Call out APAC acceleration and Europe retention; use the Middle East card to transition into the partner motion.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Frame the launch system as a loop rather than a waterfall. Every regional launch should feed learning back into the shared system.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that localization includes language, workflow, evidence, policy, and support coverage. It is not a last-mile translation task.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by asking for one owner per decision and a confirmed date. The audience should leave with commitments, not just agreement.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d8301ce5748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39d8922614f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6a68bf80047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247a1027048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01d6390d54e0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8d01541b12849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e914db9184674" /><Relationship Type="http://schemas.openxmlformats.org/officeDocument/2006/relationships/notesSlide" Target="/ppt/notesSlides/notesSlide1.xml" Id="R4682085a7d7b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0d3675f945bf" /><Relationship Type="http://schemas.openxmlformats.org/officeDocument/2006/relationships/notesSlide" Target="/ppt/notesSlides/notesSlide2.xml" Id="Rdfe7d7d211c64d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db84a79446c4" /><Relationship Type="http://schemas.openxmlformats.org/officeDocument/2006/relationships/chart" Target="/ppt/slides/charts/chart1.xml" Id="Rf43a922d5396495b" /><Relationship Type="http://schemas.openxmlformats.org/officeDocument/2006/relationships/notesSlide" Target="/ppt/notesSlides/notesSlide3.xml" Id="R5ce3d31ca6b343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7ed2c71384ea6" /><Relationship Type="http://schemas.openxmlformats.org/officeDocument/2006/relationships/notesSlide" Target="/ppt/notesSlides/notesSlide4.xml" Id="R9f03a937d2a741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c93efa664883" /><Relationship Type="http://schemas.openxmlformats.org/officeDocument/2006/relationships/notesSlide" Target="/ppt/notesSlides/notesSlide5.xml" Id="R3230c34503b3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38531bb7f4263" /><Relationship Type="http://schemas.openxmlformats.org/officeDocument/2006/relationships/notesSlide" Target="/ppt/notesSlides/notesSlide6.xml" Id="R603a36e661704cc6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/>
            </a:pPr>
            <a:r>
              <a:rPr lang="en-US" sz="1600" b="1">
                <a:solidFill>
                  <a:srgbClr val="0B1930"/>
                </a:solidFill>
              </a:rPr>
              <a:t>Qualified opportunity by region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2025</c:v>
          </c:tx>
          <c:spPr>
            <a:solidFill xmlns:a="http://schemas.openxmlformats.org/drawingml/2006/main">
              <a:srgbClr val="9FB7D8"/>
            </a:solidFill>
          </c:spPr>
          <c:invertIfNegative val="0"/>
          <c:cat>
            <c:strLit>
              <c:ptCount val="4"/>
              <c:pt idx="0">
                <c:v>Americas</c:v>
              </c:pt>
              <c:pt idx="1">
                <c:v>Europe</c:v>
              </c:pt>
              <c:pt idx="2">
                <c:v>Asia-Pacific</c:v>
              </c:pt>
              <c:pt idx="3">
                <c:v>Middle East</c:v>
              </c:pt>
            </c:strLit>
          </c:cat>
          <c:val>
            <c:numLit>
              <c:formatCode>General</c:formatCode>
              <c:ptCount val="4"/>
              <c:pt idx="0">
                <c:v>64</c:v>
              </c:pt>
              <c:pt idx="1">
                <c:v>52</c:v>
              </c:pt>
              <c:pt idx="2">
                <c:v>46</c:v>
              </c:pt>
              <c:pt idx="3">
                <c:v>23</c:v>
              </c:pt>
            </c:numLit>
          </c:val>
        </c:ser>
        <c:ser>
          <c:idx val="1"/>
          <c:order val="1"/>
          <c:tx>
            <c:v>2026</c:v>
          </c:tx>
          <c:spPr>
            <a:solidFill xmlns:a="http://schemas.openxmlformats.org/drawingml/2006/main">
              <a:srgbClr val="20C6A6"/>
            </a:solidFill>
          </c:spPr>
          <c:invertIfNegative val="0"/>
          <c:cat>
            <c:strLit>
              <c:ptCount val="4"/>
              <c:pt idx="0">
                <c:v>Americas</c:v>
              </c:pt>
              <c:pt idx="1">
                <c:v>Europe</c:v>
              </c:pt>
              <c:pt idx="2">
                <c:v>Asia-Pacific</c:v>
              </c:pt>
              <c:pt idx="3">
                <c:v>Middle East</c:v>
              </c:pt>
            </c:strLit>
          </c:cat>
          <c:val>
            <c:numLit>
              <c:formatCode>General</c:formatCode>
              <c:ptCount val="4"/>
              <c:pt idx="0">
                <c:v>79</c:v>
              </c:pt>
              <c:pt idx="1">
                <c:v>68</c:v>
              </c:pt>
              <c:pt idx="2">
                <c:v>61</c:v>
              </c:pt>
              <c:pt idx="3">
                <c:v>35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3"/>
                </a:solidFill>
                <a:latin typeface="Aptos"/>
                <a:ea typeface="Apto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>
          <c:spPr>
            <a:ln xmlns:a="http://schemas.openxmlformats.org/drawingml/2006/main" w="6350">
              <a:solidFill>
                <a:srgbClr val="DFE6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3"/>
                </a:solidFill>
                <a:latin typeface="Aptos"/>
                <a:ea typeface="Aptos"/>
              </a:defRPr>
            </a:pPr>
          </a:p>
        </c:txPr>
        <c:crossAx val="1"/>
        <c:crosses val="autoZero"/>
        <c:crossBetween val="between"/>
      </c:valAx>
      <c:spPr>
        <a:solidFill xmlns:a="http://schemas.openxmlformats.org/drawingml/2006/main">
          <a:srgbClr val="F7F9FC"/>
        </a:solidFill>
      </c:spPr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a="http://schemas.openxmlformats.org/drawingml/2006/main" xmlns:p="http://schemas.openxmlformats.org/presentationml/2006/main">
  <p:cSld name="Opening"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396000" y="360000"/>
            <a:ext cx="187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324D"/>
          </a:solidFill>
          <a:ln xmlns:a="http://schemas.openxmlformats.org/drawingml/2006/main" w="12700">
            <a:solidFill>
              <a:srgbClr val="20C6A6"/>
            </a:solidFill>
          </a:ln>
        </p:spPr>
        <p:txBody>
          <a:bodyPr xmlns:a="http://schemas.openxmlformats.org/drawingml/2006/main" lIns="28800" tIns="28800" rIns="28800" bIns="2880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Aptos"/>
                <a:ea typeface="Aptos"/>
              </a:rPr>
              <a:t>GLOBAL LAUNCH  •  2026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14000" y="1116000"/>
            <a:ext cx="7380000" cy="12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Aptos Display"/>
                <a:ea typeface="Aptos Display"/>
              </a:rPr>
              <a:t>Local insight.</a:t>
            </a:r>
          </a:p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Aptos Display"/>
                <a:ea typeface="Aptos Display"/>
              </a:rPr>
              <a:t>Global momentum.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432000" y="2592000"/>
            <a:ext cx="522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9B9CC"/>
                </a:solidFill>
                <a:latin typeface="Aptos"/>
                <a:ea typeface="Aptos"/>
              </a:rPr>
              <a:t>A decision-ready market brief for North America, Europe, Asia-Pacific, and the Middle East.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668000" y="1080000"/>
            <a:ext cx="1260000" cy="12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6A6">
              <a:alpha val="9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8316000" y="1836000"/>
            <a:ext cx="756000" cy="75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9F6">
              <a:alpha val="8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 name="Market Signal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396000" y="288000"/>
            <a:ext cx="79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500" b="1">
                <a:solidFill>
                  <a:srgbClr val="0B1930"/>
                </a:solidFill>
                <a:latin typeface="Aptos Display"/>
                <a:ea typeface="Aptos Display"/>
              </a:rPr>
              <a:t>The market signal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396000" y="720000"/>
            <a:ext cx="79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E6A7D"/>
                </a:solidFill>
                <a:latin typeface="Aptos"/>
                <a:ea typeface="Aptos"/>
              </a:rPr>
              <a:t>Demand is broad; confidence depends on localized proof and operational readiness.</a:t>
            </a:r>
          </a:p>
        </p:txBody>
      </p:sp>
      <p:sp>
        <p:nvSpPr>
          <p:cNvPr id="100007" name="TextBox 3"/>
          <p:cNvSpPr/>
          <p:nvPr/>
        </p:nvSpPr>
        <p:spPr>
          <a:xfrm xmlns:a="http://schemas.openxmlformats.org/drawingml/2006/main">
            <a:off x="396000" y="1152000"/>
            <a:ext cx="2628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B1930"/>
                </a:solidFill>
                <a:latin typeface="Aptos"/>
                <a:ea typeface="Aptos"/>
              </a:rPr>
              <a:t>+18%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0B1930"/>
                </a:solidFill>
                <a:latin typeface="Aptos"/>
                <a:ea typeface="Aptos"/>
              </a:rPr>
              <a:t>Qualified pipeline</a:t>
            </a:r>
          </a:p>
        </p:txBody>
      </p:sp>
      <p:sp>
        <p:nvSpPr>
          <p:cNvPr id="100008" name="TextBox 4"/>
          <p:cNvSpPr/>
          <p:nvPr/>
        </p:nvSpPr>
        <p:spPr>
          <a:xfrm xmlns:a="http://schemas.openxmlformats.org/drawingml/2006/main">
            <a:off x="3240000" y="1152000"/>
            <a:ext cx="2628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B1930"/>
                </a:solidFill>
                <a:latin typeface="Aptos"/>
                <a:ea typeface="Aptos"/>
              </a:rPr>
              <a:t>12 days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0B1930"/>
                </a:solidFill>
                <a:latin typeface="Aptos"/>
                <a:ea typeface="Aptos"/>
              </a:rPr>
              <a:t>Median onboarding</a:t>
            </a:r>
          </a:p>
        </p:txBody>
      </p:sp>
      <p:sp>
        <p:nvSpPr>
          <p:cNvPr id="100009" name="TextBox 5"/>
          <p:cNvSpPr/>
          <p:nvPr/>
        </p:nvSpPr>
        <p:spPr>
          <a:xfrm xmlns:a="http://schemas.openxmlformats.org/drawingml/2006/main">
            <a:off x="6084000" y="1152000"/>
            <a:ext cx="2628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30"/>
          </a:solidFill>
          <a:ln xmlns:a="http://schemas.openxmlformats.org/drawingml/2006/main" w="12700">
            <a:solidFill>
              <a:srgbClr val="0B193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99.97%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ptos"/>
                <a:ea typeface="Aptos"/>
              </a:rPr>
              <a:t>Service availability</a:t>
            </a:r>
          </a:p>
        </p:txBody>
      </p:sp>
      <p:sp>
        <p:nvSpPr>
          <p:cNvPr id="100010" name="TextBox 6"/>
          <p:cNvSpPr txBox="1"/>
          <p:nvPr/>
        </p:nvSpPr>
        <p:spPr>
          <a:xfrm xmlns:a="http://schemas.openxmlformats.org/drawingml/2006/main">
            <a:off x="396000" y="2952000"/>
            <a:ext cx="82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0A88A"/>
                </a:solidFill>
                <a:latin typeface="Aptos"/>
                <a:ea typeface="Aptos"/>
              </a:rPr>
              <a:t>Signal to action: standardize the launch engine, then localize the evidence.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 name="Regional Opportunit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TextBox 1"/>
          <p:cNvSpPr txBox="1"/>
          <p:nvPr/>
        </p:nvSpPr>
        <p:spPr>
          <a:xfrm xmlns:a="http://schemas.openxmlformats.org/drawingml/2006/main">
            <a:off x="396000" y="288000"/>
            <a:ext cx="79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500" b="1">
                <a:solidFill>
                  <a:srgbClr val="0B1930"/>
                </a:solidFill>
                <a:latin typeface="Aptos Display"/>
                <a:ea typeface="Aptos Display"/>
              </a:rPr>
              <a:t>Regional opportunity</a:t>
            </a:r>
          </a:p>
        </p:txBody>
      </p:sp>
      <p:graphicFrame>
        <p:nvGraphicFramePr>
          <p:cNvPr id="100012" name="Qualified opportunity by region"/>
          <p:cNvGraphicFramePr/>
          <p:nvPr/>
        </p:nvGraphicFramePr>
        <p:xfrm>
          <a:off xmlns:a="http://schemas.openxmlformats.org/drawingml/2006/main" x="396000" y="792000"/>
          <a:ext xmlns:a="http://schemas.openxmlformats.org/drawingml/2006/main" cx="5688000" cy="259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3a922d5396495b"/>
          </a:graphicData>
        </a:graphic>
      </p:graphicFrame>
      <p:sp>
        <p:nvSpPr>
          <p:cNvPr id="100013" name="TextBox 2"/>
          <p:cNvSpPr/>
          <p:nvPr/>
        </p:nvSpPr>
        <p:spPr>
          <a:xfrm xmlns:a="http://schemas.openxmlformats.org/drawingml/2006/main">
            <a:off x="6372000" y="792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BF7"/>
          </a:solidFill>
          <a:ln xmlns:a="http://schemas.openxmlformats.org/drawingml/2006/main" w="12700">
            <a:solidFill>
              <a:srgbClr val="B6EEE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116D5C"/>
                </a:solidFill>
                <a:latin typeface="Aptos"/>
                <a:ea typeface="Aptos"/>
              </a:rPr>
              <a:t>APAC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116D5C"/>
                </a:solidFill>
                <a:latin typeface="Aptos"/>
                <a:ea typeface="Aptos"/>
              </a:rPr>
              <a:t>Fastest growth</a:t>
            </a:r>
          </a:p>
        </p:txBody>
      </p:sp>
      <p:sp>
        <p:nvSpPr>
          <p:cNvPr id="100014" name="TextBox 3"/>
          <p:cNvSpPr/>
          <p:nvPr/>
        </p:nvSpPr>
        <p:spPr>
          <a:xfrm xmlns:a="http://schemas.openxmlformats.org/drawingml/2006/main">
            <a:off x="6372000" y="1692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CDD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245BCA"/>
                </a:solidFill>
                <a:latin typeface="Aptos"/>
                <a:ea typeface="Aptos"/>
              </a:rPr>
              <a:t>Europe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245BCA"/>
                </a:solidFill>
                <a:latin typeface="Aptos"/>
                <a:ea typeface="Aptos"/>
              </a:rPr>
              <a:t>Highest retention</a:t>
            </a:r>
          </a:p>
        </p:txBody>
      </p:sp>
      <p:sp>
        <p:nvSpPr>
          <p:cNvPr id="100015" name="TextBox 4"/>
          <p:cNvSpPr/>
          <p:nvPr/>
        </p:nvSpPr>
        <p:spPr>
          <a:xfrm xmlns:a="http://schemas.openxmlformats.org/drawingml/2006/main">
            <a:off x="6372000" y="2592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2FF"/>
          </a:solidFill>
          <a:ln xmlns:a="http://schemas.openxmlformats.org/drawingml/2006/main" w="12700">
            <a:solidFill>
              <a:srgbClr val="E4D7F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6C3CC4"/>
                </a:solidFill>
                <a:latin typeface="Aptos"/>
                <a:ea typeface="Aptos"/>
              </a:rPr>
              <a:t>Middle East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6C3CC4"/>
                </a:solidFill>
                <a:latin typeface="Aptos"/>
                <a:ea typeface="Aptos"/>
              </a:rPr>
              <a:t>Partner-led scale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 name="Launch System"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/>
      <p:sp>
        <p:nvSpPr>
          <p:cNvPr id="100016" name="TextBox 1"/>
          <p:cNvSpPr txBox="1"/>
          <p:nvPr/>
        </p:nvSpPr>
        <p:spPr>
          <a:xfrm xmlns:a="http://schemas.openxmlformats.org/drawingml/2006/main">
            <a:off x="396000" y="288000"/>
            <a:ext cx="79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500" b="1">
                <a:solidFill>
                  <a:srgbClr val="FFFFFF"/>
                </a:solidFill>
                <a:latin typeface="Aptos Display"/>
                <a:ea typeface="Aptos Display"/>
              </a:rPr>
              <a:t>One launch system, four local motions</a:t>
            </a:r>
          </a:p>
        </p:txBody>
      </p:sp>
      <p:sp>
        <p:nvSpPr>
          <p:cNvPr id="100017" name="TextBox 2"/>
          <p:cNvSpPr txBox="1"/>
          <p:nvPr/>
        </p:nvSpPr>
        <p:spPr>
          <a:xfrm xmlns:a="http://schemas.openxmlformats.org/drawingml/2006/main">
            <a:off x="396000" y="720000"/>
            <a:ext cx="79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9FB0C4"/>
                </a:solidFill>
                <a:latin typeface="Aptos"/>
                <a:ea typeface="Aptos"/>
              </a:rPr>
              <a:t>A shared operating spine makes localization faster and measurable.</a:t>
            </a:r>
          </a:p>
        </p:txBody>
      </p:sp>
      <p:sp>
        <p:nvSpPr>
          <p:cNvPr id="100018" name="TextBox 3"/>
          <p:cNvSpPr/>
          <p:nvPr/>
        </p:nvSpPr>
        <p:spPr>
          <a:xfrm xmlns:a="http://schemas.openxmlformats.org/drawingml/2006/main">
            <a:off x="396000" y="1224000"/>
            <a:ext cx="1944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2942"/>
          </a:solidFill>
          <a:ln xmlns:a="http://schemas.openxmlformats.org/drawingml/2006/main" w="12700">
            <a:solidFill>
              <a:srgbClr val="29506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01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Discover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Customer proof</a:t>
            </a:r>
          </a:p>
        </p:txBody>
      </p:sp>
      <p:sp>
        <p:nvSpPr>
          <p:cNvPr id="100019" name="TextBox 4"/>
          <p:cNvSpPr/>
          <p:nvPr/>
        </p:nvSpPr>
        <p:spPr>
          <a:xfrm xmlns:a="http://schemas.openxmlformats.org/drawingml/2006/main">
            <a:off x="2556000" y="1224000"/>
            <a:ext cx="1944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2942"/>
          </a:solidFill>
          <a:ln xmlns:a="http://schemas.openxmlformats.org/drawingml/2006/main" w="12700">
            <a:solidFill>
              <a:srgbClr val="29506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02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Localize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Language + policy</a:t>
            </a:r>
          </a:p>
        </p:txBody>
      </p:sp>
      <p:sp>
        <p:nvSpPr>
          <p:cNvPr id="100020" name="TextBox 5"/>
          <p:cNvSpPr/>
          <p:nvPr/>
        </p:nvSpPr>
        <p:spPr>
          <a:xfrm xmlns:a="http://schemas.openxmlformats.org/drawingml/2006/main">
            <a:off x="4716000" y="1224000"/>
            <a:ext cx="1944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2942"/>
          </a:solidFill>
          <a:ln xmlns:a="http://schemas.openxmlformats.org/drawingml/2006/main" w="12700">
            <a:solidFill>
              <a:srgbClr val="29506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03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Activate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Aptos"/>
                <a:ea typeface="Aptos"/>
              </a:rPr>
              <a:t>Partner + sales</a:t>
            </a:r>
          </a:p>
        </p:txBody>
      </p:sp>
      <p:sp>
        <p:nvSpPr>
          <p:cNvPr id="100021" name="TextBox 6"/>
          <p:cNvSpPr/>
          <p:nvPr/>
        </p:nvSpPr>
        <p:spPr>
          <a:xfrm xmlns:a="http://schemas.openxmlformats.org/drawingml/2006/main">
            <a:off x="6876000" y="1224000"/>
            <a:ext cx="1944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C6A6"/>
          </a:solidFill>
          <a:ln xmlns:a="http://schemas.openxmlformats.org/drawingml/2006/main" w="12700">
            <a:solidFill>
              <a:srgbClr val="20C6A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071426"/>
                </a:solidFill>
                <a:latin typeface="Aptos"/>
                <a:ea typeface="Aptos"/>
              </a:rPr>
              <a:t>04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071426"/>
                </a:solidFill>
                <a:latin typeface="Aptos"/>
                <a:ea typeface="Aptos"/>
              </a:rPr>
              <a:t>Learn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071426"/>
                </a:solidFill>
                <a:latin typeface="Aptos"/>
                <a:ea typeface="Aptos"/>
              </a:rPr>
              <a:t>Measure + improve</a:t>
            </a:r>
          </a:p>
        </p:txBody>
      </p:sp>
      <p:sp>
        <p:nvSpPr>
          <p:cNvPr id="100022" name="TextBox 7"/>
          <p:cNvSpPr txBox="1"/>
          <p:nvPr/>
        </p:nvSpPr>
        <p:spPr>
          <a:xfrm xmlns:a="http://schemas.openxmlformats.org/drawingml/2006/main">
            <a:off x="396000" y="2880000"/>
            <a:ext cx="835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7CE8D4"/>
                </a:solidFill>
                <a:latin typeface="Aptos"/>
                <a:ea typeface="Aptos"/>
              </a:rPr>
              <a:t>Shared metrics  →  local evidence  →  faster iteration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 name="Localization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396000" y="288000"/>
            <a:ext cx="792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500" b="1">
                <a:solidFill>
                  <a:srgbClr val="0B1930"/>
                </a:solidFill>
                <a:latin typeface="Aptos Display"/>
                <a:ea typeface="Aptos Display"/>
              </a:rPr>
              <a:t>Localization is an operating capability</a:t>
            </a:r>
          </a:p>
        </p:txBody>
      </p:sp>
      <p:sp>
        <p:nvSpPr>
          <p:cNvPr id="100024" name="TextBox 2"/>
          <p:cNvSpPr/>
          <p:nvPr/>
        </p:nvSpPr>
        <p:spPr>
          <a:xfrm xmlns:a="http://schemas.openxmlformats.org/drawingml/2006/main">
            <a:off x="396000" y="864000"/>
            <a:ext cx="4032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Aptos"/>
              </a:rPr>
              <a:t>English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Aptos"/>
              </a:rPr>
              <a:t>Clear global baseline</a:t>
            </a:r>
          </a:p>
        </p:txBody>
      </p:sp>
      <p:sp>
        <p:nvSpPr>
          <p:cNvPr id="100025" name="TextBox 3"/>
          <p:cNvSpPr/>
          <p:nvPr/>
        </p:nvSpPr>
        <p:spPr>
          <a:xfrm xmlns:a="http://schemas.openxmlformats.org/drawingml/2006/main">
            <a:off x="4680000" y="864000"/>
            <a:ext cx="4032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Hiragino Sans"/>
              </a:rPr>
              <a:t>简体中文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Hiragino Sans"/>
              </a:rPr>
              <a:t>面向本地业务场景</a:t>
            </a:r>
          </a:p>
        </p:txBody>
      </p:sp>
      <p:sp>
        <p:nvSpPr>
          <p:cNvPr id="100026" name="TextBox 4"/>
          <p:cNvSpPr/>
          <p:nvPr/>
        </p:nvSpPr>
        <p:spPr>
          <a:xfrm xmlns:a="http://schemas.openxmlformats.org/drawingml/2006/main">
            <a:off x="396000" y="1800000"/>
            <a:ext cx="4032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Hiragino Sans"/>
              </a:rPr>
              <a:t>日本語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0B1930"/>
                </a:solidFill>
                <a:latin typeface="Aptos"/>
                <a:ea typeface="Hiragino Sans"/>
              </a:rPr>
              <a:t>信頼できる導入体験</a:t>
            </a:r>
          </a:p>
        </p:txBody>
      </p:sp>
      <p:sp>
        <p:nvSpPr>
          <p:cNvPr id="100027" name="TextBox 5"/>
          <p:cNvSpPr/>
          <p:nvPr/>
        </p:nvSpPr>
        <p:spPr>
          <a:xfrm xmlns:a="http://schemas.openxmlformats.org/drawingml/2006/main">
            <a:off x="4680000" y="1800000"/>
            <a:ext cx="4032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4EE"/>
            </a:solidFill>
          </a:ln>
        </p:spPr>
        <p:txBody>
          <a:bodyPr xmlns:a="http://schemas.openxmlformats.org/drawingml/2006/main" rtlCol="1" anchor="ctr"/>
          <a:lstStyle xmlns:a="http://schemas.openxmlformats.org/drawingml/2006/main"/>
          <a:p xmlns:a="http://schemas.openxmlformats.org/drawingml/2006/main">
            <a:pPr algn="ctr" rtl="1"/>
            <a:r>
              <a:rPr lang="en-US" sz="1500" b="1">
                <a:solidFill>
                  <a:srgbClr val="0B1930"/>
                </a:solidFill>
                <a:latin typeface="Aptos"/>
                <a:ea typeface="Aptos"/>
                <a:cs typeface="Arial"/>
              </a:rPr>
              <a:t>العربية</a:t>
            </a:r>
          </a:p>
          <a:p xmlns:a="http://schemas.openxmlformats.org/drawingml/2006/main">
            <a:pPr algn="ctr" rtl="1"/>
            <a:r>
              <a:rPr lang="en-US" sz="1500" b="1">
                <a:solidFill>
                  <a:srgbClr val="0B1930"/>
                </a:solidFill>
                <a:latin typeface="Aptos"/>
                <a:ea typeface="Aptos"/>
                <a:cs typeface="Arial"/>
              </a:rPr>
              <a:t>تجربة إطلاق موثوقة</a:t>
            </a:r>
          </a:p>
        </p:txBody>
      </p:sp>
      <p:sp>
        <p:nvSpPr>
          <p:cNvPr id="100028" name="TextBox 6"/>
          <p:cNvSpPr txBox="1"/>
          <p:nvPr/>
        </p:nvSpPr>
        <p:spPr>
          <a:xfrm xmlns:a="http://schemas.openxmlformats.org/drawingml/2006/main">
            <a:off x="396000" y="2880000"/>
            <a:ext cx="8316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0A88A"/>
                </a:solidFill>
                <a:latin typeface="Aptos"/>
                <a:ea typeface="Aptos"/>
              </a:rPr>
              <a:t>Translate the promise. Localize the proof. Preserve the product truth.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 name="Next Steps"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 txBox="1"/>
          <p:nvPr/>
        </p:nvSpPr>
        <p:spPr>
          <a:xfrm xmlns:a="http://schemas.openxmlformats.org/drawingml/2006/main">
            <a:off x="396000" y="360000"/>
            <a:ext cx="79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ptos Display"/>
                <a:ea typeface="Aptos Display"/>
              </a:rPr>
              <a:t>The next 90 days</a:t>
            </a:r>
          </a:p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396000" y="828000"/>
            <a:ext cx="75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FB0C4"/>
                </a:solidFill>
                <a:latin typeface="Aptos"/>
                <a:ea typeface="Aptos"/>
              </a:rPr>
              <a:t>Three decisions create the conditions for a confident global launch.</a:t>
            </a:r>
          </a:p>
        </p:txBody>
      </p:sp>
      <p:sp>
        <p:nvSpPr>
          <p:cNvPr id="100031" name="TextBox 3"/>
          <p:cNvSpPr/>
          <p:nvPr/>
        </p:nvSpPr>
        <p:spPr>
          <a:xfrm xmlns:a="http://schemas.openxmlformats.org/drawingml/2006/main">
            <a:off x="396000" y="1368000"/>
            <a:ext cx="2592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2942"/>
          </a:solidFill>
          <a:ln xmlns:a="http://schemas.openxmlformats.org/drawingml/2006/main" w="12700">
            <a:solidFill>
              <a:srgbClr val="29506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</a:rPr>
              <a:t>AUGUST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</a:rPr>
              <a:t>Approve the launch spine</a:t>
            </a:r>
          </a:p>
        </p:txBody>
      </p:sp>
      <p:sp>
        <p:nvSpPr>
          <p:cNvPr id="100032" name="TextBox 4"/>
          <p:cNvSpPr/>
          <p:nvPr/>
        </p:nvSpPr>
        <p:spPr>
          <a:xfrm xmlns:a="http://schemas.openxmlformats.org/drawingml/2006/main">
            <a:off x="3240000" y="1368000"/>
            <a:ext cx="2592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2942"/>
          </a:solidFill>
          <a:ln xmlns:a="http://schemas.openxmlformats.org/drawingml/2006/main" w="12700">
            <a:solidFill>
              <a:srgbClr val="29506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</a:rPr>
              <a:t>SEPTEMBER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</a:rPr>
              <a:t>Certify regional partners</a:t>
            </a:r>
          </a:p>
        </p:txBody>
      </p:sp>
      <p:sp>
        <p:nvSpPr>
          <p:cNvPr id="100033" name="TextBox 5"/>
          <p:cNvSpPr/>
          <p:nvPr/>
        </p:nvSpPr>
        <p:spPr>
          <a:xfrm xmlns:a="http://schemas.openxmlformats.org/drawingml/2006/main">
            <a:off x="6084000" y="1368000"/>
            <a:ext cx="2592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C6A6"/>
          </a:solidFill>
          <a:ln xmlns:a="http://schemas.openxmlformats.org/drawingml/2006/main" w="12700">
            <a:solidFill>
              <a:srgbClr val="20C6A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071426"/>
                </a:solidFill>
                <a:latin typeface="Aptos"/>
                <a:ea typeface="Aptos"/>
              </a:rPr>
              <a:t>OCTOBER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071426"/>
                </a:solidFill>
                <a:latin typeface="Aptos"/>
                <a:ea typeface="Aptos"/>
              </a:rPr>
              <a:t>Scale what converts</a:t>
            </a:r>
          </a:p>
        </p:txBody>
      </p:sp>
      <p:sp>
        <p:nvSpPr>
          <p:cNvPr id="100034" name="TextBox 6"/>
          <p:cNvSpPr txBox="1"/>
          <p:nvPr/>
        </p:nvSpPr>
        <p:spPr>
          <a:xfrm xmlns:a="http://schemas.openxmlformats.org/drawingml/2006/main">
            <a:off x="396000" y="3168000"/>
            <a:ext cx="82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7CE8D4"/>
                </a:solidFill>
                <a:latin typeface="Aptos"/>
                <a:ea typeface="Aptos"/>
              </a:rPr>
              <a:t>DECISION REQUIRED  •  OWNER  •  DATE  •  SUCCESS MEASURE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OfficeCLI/1.0.139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Flyfish Office Preview</dc:creator>
  <dcterms:created xsi:type="dcterms:W3CDTF">2026-07-22T10:08:11.0000000Z</dcterms:created>
  <lastModifiedBy>OfficeCLI</lastModifiedBy>
  <dcterms:modified xsi:type="dcterms:W3CDTF">2026-07-22T10:12:36.7463160Z</dcterms:modified>
  <dc:title>Global Market Launch 2026</dc:title>
  <dc:description>International product launch presentation sample</dc:description>
  <keywords>global launch,international,presentation,office preview</keywords>
  <category>Product Strategy</category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1.0.139</vt:lpwstr>
  </op:property>
  <op:property fmtid="{D5CDD505-2E9C-101B-9397-08002B2CF9AE}" pid="3" name="OfficeCLI.LastModified">
    <vt:lpwstr xmlns:vt="http://schemas.openxmlformats.org/officeDocument/2006/docPropsVTypes">2026-07-22T10:22:27Z</vt:lpwstr>
  </op:property>
</op:Properties>
</file>